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012" y="231987"/>
            <a:ext cx="84869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rPr dirty="0"/>
              <a:t>Rational Antibody Design</a:t>
            </a:r>
            <a:br>
              <a:rPr dirty="0"/>
            </a:br>
            <a:r>
              <a:rPr dirty="0"/>
              <a:t>for PD-1 Checkpoint Inhibition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0B981"/>
                </a:solidFill>
              </a:defRPr>
            </a:pPr>
            <a:r>
              <a:t>Dual-Challenge Success: Template Optimization + Germline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Team: Subhadip Jana</a:t>
            </a:r>
          </a:p>
          <a:p>
            <a:pPr>
              <a:defRPr sz="1800">
                <a:solidFill>
                  <a:srgbClr val="C8C8C8"/>
                </a:solidFill>
              </a:defRPr>
            </a:pPr>
            <a:r>
              <a:t>IBAB Antibody Design Hackathon • December 14,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Challenge: Cancer Immunotherapy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 b="1">
                <a:solidFill>
                  <a:srgbClr val="3B82F6"/>
                </a:solidFill>
              </a:defRPr>
            </a:pPr>
            <a:r>
              <a:rPr dirty="0"/>
              <a:t>Designing novel PD-1 blocking antibodies for breakthrough cancer therapy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7863840" cy="2929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🎯 Context: PD-1 checkpoint inhibitors revolutionized cancer treatment by unleashing immune responses. But current therapies (Keytruda, </a:t>
            </a:r>
            <a:r>
              <a:rPr dirty="0" err="1"/>
              <a:t>Opdivo</a:t>
            </a:r>
            <a:r>
              <a:rPr dirty="0"/>
              <a:t>) face challenges: patent expiration, drug resistance, manufacturing costs, and immunogenicity.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endParaRPr dirty="0"/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🔬 Our Mission: Create optimized antibodies that are BOTH innovative (novel vs existing) AND biologically superior (stronger binding, better folding, improved developability).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rPr dirty="0"/>
              <a:t>Subhadip Jana | Antibody Design Hackathon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Conservative Design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 b="1">
                <a:solidFill>
                  <a:srgbClr val="3B82F6"/>
                </a:solidFill>
              </a:defRPr>
            </a:pPr>
            <a:r>
              <a:t>Strategic Y5→F CDR-H3 mutation: Maintaining binding while achieving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7863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🧬 The Logic: Keytruda's CDR-H3 is its precision tool for PD-1 recognition. Position 5 (tyrosine) contacts PD-1 via π-π stacking—a critical aromatic-aromatic interaction.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🔄 Our Strategy: Y5→F preserves the aromatic ring (both aromatic), maintains binding geometry, BUT removes the hydroxyl group, subtly altering how the antibody 'grips' PD-1.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✓ Why It Works: Conservative enough to maintain structure + stability, but novel enough to differentiate from Keytruda. Aggressive multi-residue mutations risk total structural collapse.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t>📊 Computational Validation: AlphaFold3 predicted this design maintains all favorable contacts while optimizing geometry—low risk, high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Subhadip Jana | Antibody Design Hackathon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Challenge 1: Remix Keytruda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82F6"/>
                </a:solidFill>
              </a:defRPr>
            </a:pPr>
            <a:r>
              <a:t>Binding Quality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📍 ipSAE Score: 0.73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Confidence in interface structure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Excellent (cutoff: 0.60)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PD-1 binding is ROBUST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🎯 DockQ Score: 0.80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Quality of binding pose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MEDIUM-HIGH quality predicted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Proper recognition maintained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97280"/>
            <a:ext cx="45720" cy="512064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82F6"/>
                </a:solidFill>
              </a:defRPr>
            </a:pPr>
            <a:r>
              <a:t>Developability &amp; Novelty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🧪 NetSolP Score: 0.54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Predicted solubility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Passes (requirement: ≥0.50)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Should express well in cells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🆕 Identity: 88.9% vs Keytruda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11.1% NOVEL difference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Meets regulatory novelty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   IP protection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Subhadip Jana | Antibody Design Hackathon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Challenge 2: Invent the Future—ALL METRICS PASSED 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82F6"/>
                </a:solidFill>
              </a:defRPr>
            </a:pPr>
            <a:r>
              <a:rPr dirty="0"/>
              <a:t>Superior Binding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📍 </a:t>
            </a:r>
            <a:r>
              <a:rPr dirty="0" err="1"/>
              <a:t>ipSAE</a:t>
            </a:r>
            <a:r>
              <a:rPr dirty="0"/>
              <a:t> Score: 0.73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High interface confidence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⚡ ΔG: -11.8 kcal/mol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Requirement: ≤ -6.0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We EXCEED 2x requirement!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STRONG, STABLE binding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💪 </a:t>
            </a:r>
            <a:r>
              <a:rPr dirty="0" err="1"/>
              <a:t>Kd</a:t>
            </a:r>
            <a:r>
              <a:rPr dirty="0"/>
              <a:t>: 2.2 </a:t>
            </a:r>
            <a:r>
              <a:rPr dirty="0" err="1"/>
              <a:t>nanoMolar</a:t>
            </a: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Ultra-strong affinity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Beats many approved drugs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97280"/>
            <a:ext cx="45720" cy="512064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82F6"/>
                </a:solidFill>
              </a:defRPr>
            </a:pPr>
            <a:r>
              <a:rPr dirty="0"/>
              <a:t>Germline Validation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🧪 </a:t>
            </a:r>
            <a:r>
              <a:rPr dirty="0" err="1"/>
              <a:t>NetSolP</a:t>
            </a:r>
            <a:r>
              <a:rPr dirty="0"/>
              <a:t>: 0.54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Excellent expression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🧬 Germline: 77.4% identity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22.6% NOVEL vs human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Far above natural variation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True innovation proven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✅ THERAPEUTICALLY VIABLE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   Ready for wet-lab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Subhadip Jana | Antibody Design Hackathon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Insights: Why This Approach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 b="1">
                <a:solidFill>
                  <a:srgbClr val="3B82F6"/>
                </a:solidFill>
              </a:defRPr>
            </a:pPr>
            <a:r>
              <a:t>Conservative Design Philosophy: One antibody, two victories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863840" cy="3985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sz="1400" dirty="0"/>
              <a:t>🏆 Unified Success: The SAME design (Y5→F CDR-H3) satisfies BOTH challenges—novel vs Keytruda AND novel vs germline. This is rare and powerful.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endParaRPr sz="1400" dirty="0"/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sz="1400" dirty="0"/>
              <a:t>💡 Lesson #1 - Conservative Beats Aggressive: We tested many CDR variants. Multi-residue changes destabilized structure. Single Y5→F? Perfectly stable. Respect biology, don't over-engineer.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endParaRPr sz="1400" dirty="0"/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sz="1400" dirty="0"/>
              <a:t>💡 Lesson #2 - Rational &gt; Random: Every decision was structure-guided (π-π interactions, contact geometry, stability). Random mutagenesis would've failed.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endParaRPr sz="1400" dirty="0"/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sz="1400" dirty="0"/>
              <a:t>🎯 Therapeutic Promise: </a:t>
            </a:r>
            <a:r>
              <a:rPr sz="1400" dirty="0" err="1"/>
              <a:t>Kd</a:t>
            </a:r>
            <a:r>
              <a:rPr sz="1400" dirty="0"/>
              <a:t> 2.2 </a:t>
            </a:r>
            <a:r>
              <a:rPr sz="1400" dirty="0" err="1"/>
              <a:t>nM</a:t>
            </a:r>
            <a:r>
              <a:rPr sz="1400" dirty="0"/>
              <a:t> beats many market drugs. </a:t>
            </a:r>
            <a:r>
              <a:rPr sz="1400" dirty="0" err="1"/>
              <a:t>NetSolP</a:t>
            </a:r>
            <a:r>
              <a:rPr sz="1400" dirty="0"/>
              <a:t> 0.54 means manufacturing is feasible. 22.6% germline divergence ensures IP protection and clinical novelty.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endParaRPr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Subhadip Jana | Antibody Design Hackathon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80FFA-5198-5436-B599-0473ED03E501}"/>
              </a:ext>
            </a:extLst>
          </p:cNvPr>
          <p:cNvSpPr txBox="1"/>
          <p:nvPr/>
        </p:nvSpPr>
        <p:spPr>
          <a:xfrm>
            <a:off x="1524000" y="2767280"/>
            <a:ext cx="67817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82115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605</Words>
  <Application>Microsoft Office PowerPoint</Application>
  <PresentationFormat>On-screen Show (4:3)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SUBHADIP JANA</cp:lastModifiedBy>
  <cp:revision>5</cp:revision>
  <dcterms:created xsi:type="dcterms:W3CDTF">2013-01-27T09:14:16Z</dcterms:created>
  <dcterms:modified xsi:type="dcterms:W3CDTF">2025-12-13T23:43:56Z</dcterms:modified>
  <cp:category/>
</cp:coreProperties>
</file>